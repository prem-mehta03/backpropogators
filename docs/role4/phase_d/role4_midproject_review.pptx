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31228a6abd4277" /><Relationship Type="http://schemas.openxmlformats.org/officeDocument/2006/relationships/extended-properties" Target="/docProps/app.xml" Id="Ra9d66131d6fb43ae" /><Relationship Type="http://schemas.openxmlformats.org/officeDocument/2006/relationships/officeDocument" Target="/ppt/presentation.xml" Id="Rab6c1b2ba441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bf4cfe994492e"/>
  </p:sldMasterIdLst>
  <p:notesMasterIdLst>
    <p:notesMasterId xmlns:r="http://schemas.openxmlformats.org/officeDocument/2006/relationships" r:id="Rbab5491f4d334977"/>
  </p:notesMasterIdLst>
  <p:sldIdLst>
    <p:sldId xmlns:r="http://schemas.openxmlformats.org/officeDocument/2006/relationships" id="256" r:id="R1fd5e8e5efe3490a"/>
    <p:sldId xmlns:r="http://schemas.openxmlformats.org/officeDocument/2006/relationships" id="257" r:id="R0b448a5a770243a2"/>
    <p:sldId xmlns:r="http://schemas.openxmlformats.org/officeDocument/2006/relationships" id="258" r:id="R5849cd7061b644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2119a445e648be" /><Relationship Type="http://schemas.openxmlformats.org/officeDocument/2006/relationships/slideMaster" Target="/ppt/slideMasters/slideMaster1.xml" Id="R68cbf4cfe994492e" /><Relationship Type="http://schemas.openxmlformats.org/officeDocument/2006/relationships/notesMaster" Target="/ppt/notesMasters/notesMaster1.xml" Id="Rbab5491f4d334977" /><Relationship Type="http://schemas.openxmlformats.org/officeDocument/2006/relationships/presProps" Target="/ppt/presProps.xml" Id="R47e2a14390644f82" /><Relationship Type="http://schemas.openxmlformats.org/officeDocument/2006/relationships/tableStyles" Target="/ppt/tableStyles.xml" Id="Rad7d2f9c898143c9" /><Relationship Type="http://schemas.openxmlformats.org/officeDocument/2006/relationships/slide" Target="/ppt/slides/slide1.xml" Id="R1fd5e8e5efe3490a" /><Relationship Type="http://schemas.openxmlformats.org/officeDocument/2006/relationships/slide" Target="/ppt/slides/slide2.xml" Id="R0b448a5a770243a2" /><Relationship Type="http://schemas.openxmlformats.org/officeDocument/2006/relationships/slide" Target="/ppt/slides/slide3.xml" Id="R5849cd7061b6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002c76c5e43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c364703d94205" /><Relationship Type="http://schemas.openxmlformats.org/officeDocument/2006/relationships/notesMaster" Target="/ppt/notesMasters/notesMaster1.xml" Id="R070492825ece4d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d3bf327eec47f4" /><Relationship Type="http://schemas.openxmlformats.org/officeDocument/2006/relationships/notesMaster" Target="/ppt/notesMasters/notesMaster1.xml" Id="Rde456434b02d4b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01cb2bc31c40e5" /><Relationship Type="http://schemas.openxmlformats.org/officeDocument/2006/relationships/notesMaster" Target="/ppt/notesMasters/notesMaster1.xml" Id="R93edd844fe0e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contribution is evaluation, integration, testing and logging. The current build</a:t>
            </a:r>
          </a:p>
          <a:p xmlns:a="http://schemas.openxmlformats.org/drawingml/2006/main">
            <a:r>
              <a:t>uses reference backends for all three layers. These are controlled fixtures that</a:t>
            </a:r>
          </a:p>
          <a:p xmlns:a="http://schemas.openxmlformats.org/drawingml/2006/main">
            <a:r>
              <a:t>let us inspect behavior before the complete teammate implementations are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framework records the question, beliefs and environment before execution,</a:t>
            </a:r>
          </a:p>
          <a:p xmlns:a="http://schemas.openxmlformats.org/drawingml/2006/main">
            <a:r>
              <a:t>public tool calls and returned evidence, belief changes, and the final answer.</a:t>
            </a:r>
          </a:p>
          <a:p xmlns:a="http://schemas.openxmlformats.org/drawingml/2006/main">
            <a:r>
              <a:t>It checks whether required tools were used, whether a factual claim matches its</a:t>
            </a:r>
          </a:p>
          <a:p xmlns:a="http://schemas.openxmlformats.org/drawingml/2006/main">
            <a:r>
              <a:t>cited evidence, and whether source, confidence and perspective survive the update.</a:t>
            </a:r>
          </a:p>
          <a:p xmlns:a="http://schemas.openxmlformats.org/drawingml/2006/main">
            <a:r>
              <a:t>It also checks forbidden movement and whether replaying the trace reproduces the</a:t>
            </a:r>
          </a:p>
          <a:p xmlns:a="http://schemas.openxmlformats.org/drawingml/2006/main">
            <a:r>
              <a:t>final belief state. This makes a failure inspectable rather than just assigning a</a:t>
            </a:r>
          </a:p>
          <a:p xmlns:a="http://schemas.openxmlformats.org/drawingml/2006/main">
            <a:r>
              <a:t>score to an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evaluation/role4/evaluator.py; evaluation/role4/integration/trace_recorder.py; docs/role4/phase_c_verification.json</a:t>
            </a:r>
          </a:p>
          <a:p xmlns:a="http://schemas.openxmlformats.org/drawingml/2006/main">
            <a:r>
              <a:t>Prepared 3 October 2026. Scheduled October 5 peer review and October 6 presentation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 demonstration scenarios are S01, S02, S03, S07 and S08. Every valid</a:t>
            </a:r>
          </a:p>
          <a:p xmlns:a="http://schemas.openxmlformats.org/drawingml/2006/main">
            <a:r>
              <a:t>reference case passes. In each scenario, we deliberately inject a wrong behavior,</a:t>
            </a:r>
          </a:p>
          <a:p xmlns:a="http://schemas.openxmlformats.org/drawingml/2006/main">
            <a:r>
              <a:t>and the evaluator detects the intended violation.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example, S03 keeps the user's red claim, the camera's brown observation and the</a:t>
            </a:r>
          </a:p>
          <a:p xmlns:a="http://schemas.openxmlformats.org/drawingml/2006/main">
            <a:r>
              <a:t>historical blue record separate. In S07, memory returns no temperature belief and</a:t>
            </a:r>
          </a:p>
          <a:p xmlns:a="http://schemas.openxmlformats.org/drawingml/2006/main">
            <a:r>
              <a:t>the temperature sensor is unavailable. The valid answer says the temperature is</a:t>
            </a:r>
          </a:p>
          <a:p xmlns:a="http://schemas.openxmlformats.org/drawingml/2006/main">
            <a:r>
              <a:t>unknown. The injected version invents 22 degrees and requests movement. The</a:t>
            </a:r>
          </a:p>
          <a:p xmlns:a="http://schemas.openxmlformats.org/drawingml/2006/main">
            <a:r>
              <a:t>evaluator rejects the unsupported claim, and the dispatcher records movement as</a:t>
            </a:r>
          </a:p>
          <a:p xmlns:a="http://schemas.openxmlformats.org/drawingml/2006/main">
            <a:r>
              <a:t>neither authorized nor executed.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are also 177 available passing test methods: 167 Role 4 tests and ten</a:t>
            </a:r>
          </a:p>
          <a:p xmlns:a="http://schemas.openxmlformats.org/drawingml/2006/main">
            <a:r>
              <a:t>teammate client tests. That count is separate from the five scenarios. The five</a:t>
            </a:r>
          </a:p>
          <a:p xmlns:a="http://schemas.openxmlformats.org/drawingml/2006/main">
            <a:r>
              <a:t>reference passes establish fixture behavior, while the five deliberate failures</a:t>
            </a:r>
          </a:p>
          <a:p xmlns:a="http://schemas.openxmlformats.org/drawingml/2006/main">
            <a:r>
              <a:t>establish evaluator detection. Neither is an LLM success rate. A separate</a:t>
            </a:r>
          </a:p>
          <a:p xmlns:a="http://schemas.openxmlformats.org/drawingml/2006/main">
            <a:r>
              <a:t>malformed-temperature probe aborts with a contract error instead of becoming a</a:t>
            </a:r>
          </a:p>
          <a:p xmlns:a="http://schemas.openxmlformats.org/drawingml/2006/main">
            <a:r>
              <a:t>valid unknown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docs/role4/phase_d/evidence_summary.json; docs/role4/phase_d/rehearsal_record.json; tests/role4/scenarios.json</a:t>
            </a:r>
          </a:p>
          <a:p xmlns:a="http://schemas.openxmlformats.org/drawingml/2006/main">
            <a:r>
              <a:t>Prepared 3 October 2026. Scheduled October 5 peer review and October 6 presentation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test discovery still exits with two collection errors because approved shared</a:t>
            </a:r>
          </a:p>
          <a:p xmlns:a="http://schemas.openxmlformats.org/drawingml/2006/main">
            <a:r>
              <a:t>contracts are missing. The sensor stub and a complete agent interface are also</a:t>
            </a:r>
          </a:p>
          <a:p xmlns:a="http://schemas.openxmlformats.org/drawingml/2006/main">
            <a:r>
              <a:t>pending. Prem's actual client has been tested through fake APIs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Our automated checks validate structured evidence and metadata. They do not</a:t>
            </a:r>
          </a:p>
          <a:p xmlns:a="http://schemas.openxmlformats.org/drawingml/2006/main">
            <a:r>
              <a:t>generally understand arbitrary English, so human review of the five exact answers</a:t>
            </a:r>
          </a:p>
          <a:p xmlns:a="http://schemas.openxmlformats.org/drawingml/2006/main">
            <a:r>
              <a:t>is still pending. Scenario B also needs agreement on the historical agent identity</a:t>
            </a:r>
          </a:p>
          <a:p xmlns:a="http://schemas.openxmlformats.org/drawingml/2006/main">
            <a:r>
              <a:t>and lighting context. The planned October 5 review and October 6 presentation</a:t>
            </a:r>
          </a:p>
          <a:p xmlns:a="http://schemas.openxmlformats.org/drawingml/2006/main">
            <a:r>
              <a:t>remain future events. The next work is owner API and fixture agreement, actual</a:t>
            </a:r>
          </a:p>
          <a:p xmlns:a="http://schemas.openxmlformats.org/drawingml/2006/main">
            <a:r>
              <a:t>human review, complete integration, and later measured real-model 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docs/role4/phase_c_remaining_integration_gaps.md; phase_c_s07_reuse_and_fixture_alignment.md; phase_d/teammate_decisions_unsent.md</a:t>
            </a:r>
          </a:p>
          <a:p xmlns:a="http://schemas.openxmlformats.org/drawingml/2006/main">
            <a:r>
              <a:t>Prepared 3 October 2026. Scheduled October 5 peer review and October 6 presentation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d52d1506949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96c9d574274861" /><Relationship Type="http://schemas.openxmlformats.org/officeDocument/2006/relationships/slideLayout" Target="/ppt/slideLayouts/slideLayout1.xml" Id="R09782ea7ace740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782ea7ace740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1bfa7a27e47ad" /><Relationship Type="http://schemas.openxmlformats.org/officeDocument/2006/relationships/notesSlide" Target="/ppt/notesSlides/notesSlide1.xml" Id="R2d36d1423b2b42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58e27813043ba" /><Relationship Type="http://schemas.openxmlformats.org/officeDocument/2006/relationships/notesSlide" Target="/ppt/notesSlides/notesSlide2.xml" Id="Rcc0c79e055db49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ea03f4cbb41c7" /><Relationship Type="http://schemas.openxmlformats.org/officeDocument/2006/relationships/notesSlide" Target="/ppt/notesSlides/notesSlide3.xml" Id="Ra948c3ee1fc445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CA5D4-8825-489B-897D-C687FF32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Evaluation framework and audit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998C3-79C9-49B3-ADC8-C5CE155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6F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F72"/>
                </a:solidFill>
                <a:latin typeface="Arial"/>
                <a:ea typeface="Arial"/>
                <a:cs typeface="Arial"/>
              </a:rPr>
              <a:t>Reference-backed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B42ED-C1AA-4382-9C38-EFC7421F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Structured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1B7C0-6D0D-4689-BBA1-84824D2C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08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Recorded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ED145-C1F9-4658-973D-37F59D06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Required tools and forbidden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121D2-E519-4C33-8FCA-A5BE656F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4625"/>
            <a:ext cx="5086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Question and initial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E3BAB-604A-469C-8D0F-E244AC6A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Claims bound to returned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91CFA-F451-46C7-BC63-BABD8714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5086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Public calls and raw tool returns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ABB63-D72B-4706-97C8-28FEE9B6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Source, confidence and perspective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8D322-E73F-447F-B5AA-6779BAD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48125"/>
            <a:ext cx="5086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Evidence IDs and before/after beliefs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C119E-6AA7-498E-9C11-A3234A93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Belief changes and trace replay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73399-6B9D-4AE7-897D-A5D844C5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14875"/>
            <a:ext cx="5086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Answer, check results and reasons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C6E15-CBD5-48E4-911C-E3E9786B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5A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45A66"/>
                </a:solidFill>
                <a:latin typeface="Arial"/>
                <a:ea typeface="Arial"/>
                <a:cs typeface="Arial"/>
              </a:rPr>
              <a:t>Human prose review remains pending. Automated checks validate structured metadata.</a:t>
            </a:r>
          </a:p>
        </p:txBody>
      </p:sp>
    </p:spTree>
    <p:extLst>
      <p:ext uri="{BB962C8B-B14F-4D97-AF65-F5344CB8AC3E}">
        <p14:creationId xmlns:p14="http://schemas.microsoft.com/office/powerpoint/2010/main" val="1594296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799B4-6DD7-4713-BD14-55490E61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Five-case results and deliberate faults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64B1D-6A76-4708-B61B-40B43484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6F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F72"/>
                </a:solidFill>
                <a:latin typeface="Arial"/>
                <a:ea typeface="Arial"/>
                <a:cs typeface="Arial"/>
              </a:rPr>
              <a:t>Reference-backed evaluation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095375"/>
                <a:gridCol w="2095500"/>
                <a:gridCol w="6391275"/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Injected fault</a:t>
                      </a:r>
                    </a:p>
                  </a:txBody>
                  <a:tcPr marL="91440" marR="91440" marT="45720" marB="45720">
                    <a:solidFill>
                      <a:srgbClr val="14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Detected behavior</a:t>
                      </a:r>
                    </a:p>
                  </a:txBody>
                  <a:tcPr marL="91440" marR="91440" marT="45720" marB="45720">
                    <a:solidFill>
                      <a:srgbClr val="142D3B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6F7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FAIL (expected)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Missing LiDAR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6F7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FAIL (expected)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Historical claim used as current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6F7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FAIL (expected)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Perspectives collapsed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6F7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FAIL (expected)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Fabricated temperature, movement request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S08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6F7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FAIL (expected)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3B"/>
                          </a:solidFill>
                          <a:latin typeface="Arial"/>
                          <a:ea typeface="Arial"/>
                          <a:cs typeface="Arial"/>
                        </a:rPr>
                        <a:t>User claim replaces blocked sensor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F09E2-B65B-4179-AC63-03B14363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177 available test methods = 167 Role 4 + 10 teammate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E3BA0-1EE7-4F9B-87E1-C5361D06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5A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45A66"/>
                </a:solidFill>
                <a:latin typeface="Arial"/>
                <a:ea typeface="Arial"/>
                <a:cs typeface="Arial"/>
              </a:rPr>
              <a:t>Separate control: malformed S07 payload returns CONTRACT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36742-DB72-4933-866E-7BADCF6E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5A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45A66"/>
                </a:solidFill>
                <a:latin typeface="Arial"/>
                <a:ea typeface="Arial"/>
                <a:cs typeface="Arial"/>
              </a:rPr>
              <a:t>Fixture passes and fault detection do not measure LLM reliability.</a:t>
            </a:r>
          </a:p>
        </p:txBody>
      </p:sp>
    </p:spTree>
    <p:extLst>
      <p:ext uri="{BB962C8B-B14F-4D97-AF65-F5344CB8AC3E}">
        <p14:creationId xmlns:p14="http://schemas.microsoft.com/office/powerpoint/2010/main" val="1014860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32BB1-4629-4D50-8190-0FAB13FF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Integration blockers and 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9DAEF-F18E-466C-9B04-9900DBFB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6F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F72"/>
                </a:solidFill>
                <a:latin typeface="Arial"/>
                <a:ea typeface="Arial"/>
                <a:cs typeface="Arial"/>
              </a:rPr>
              <a:t>Reference-backed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7E560-0DB8-4BFA-809D-B98A1030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85093-ED2E-4B97-B1DF-B6DC0DE3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08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B"/>
                </a:solidFill>
                <a:latin typeface="Arial"/>
                <a:ea typeface="Arial"/>
                <a:cs typeface="Arial"/>
              </a:rPr>
              <a:t>Planned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CF481-E186-4DBB-9D46-156B6BA7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095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contracts.models and sensorimotor.stub missing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70BB6-7AA3-4976-A77B-278CAFC4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4625"/>
            <a:ext cx="508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October 5: peer review planned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EC668-D5BC-4393-92A0-A546771E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095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Full discovery: 2 collection errors, exit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91B59-6983-4C0C-A8D7-95E9A223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508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October 6: presentation planned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A649E-6158-4C86-A360-BDD227D2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5095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Complete agent and hosted trials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394F8-6B0E-4F40-8086-4EA088D2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05275"/>
            <a:ext cx="508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Agree owner APIs and exact fixtures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7C40B-716A-408D-8D02-C2487FE3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095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Scenario B identity and lighting unspecified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6393A-87FD-43C0-B3DC-34AEE735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5086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3B"/>
                </a:solidFill>
                <a:latin typeface="Arial"/>
                <a:ea typeface="Arial"/>
                <a:cs typeface="Arial"/>
              </a:rPr>
              <a:t>Human review, integration, then release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A59D0-6D04-4CA4-A80D-163ADA1C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5A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45A66"/>
                </a:solidFill>
                <a:latin typeface="Arial"/>
                <a:ea typeface="Arial"/>
                <a:cs typeface="Arial"/>
              </a:rPr>
              <a:t>Prem's real client used fake APIs only. Human and peer reviews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257871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2026-10-03T14:35:01.5300000Z</dcterms:created>
  <dcterms:modified xsi:type="dcterms:W3CDTF">2026-10-03T14:35:01.5300000Z</dcterms:modified>
</coreProperties>
</file>